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572000"/>
            <a:ext cx="5486400" cy="6400800"/>
          </a:xfrm>
        </p:spPr>
        <p:txBody>
          <a:bodyPr/>
          <a:lstStyle/>
          <a:p>
            <a:r>
              <a:rPr lang="ko-KR" dirty="0"/>
              <a:t>FabAssure는 제조 변경을 관리하는 소프트웨어입니다.</a:t>
            </a:r>
            <a:endParaRPr lang="en-US" dirty="0"/>
          </a:p>
          <a:p>
            <a:r>
              <a:rPr lang="ko-KR" dirty="0"/>
              <a:t>레시피나 설비 모듈을 바꾸면 보통 승인 서명으로 변경이 끝납니다. 저는 그 뒤에 생산이 실제로 어땠는지까지 같은 기록에 남기고 싶었습니다. 왼쪽 문장이 그 뜻입니다.</a:t>
            </a:r>
            <a:endParaRPr lang="en-US" dirty="0"/>
          </a:p>
          <a:p>
            <a:r>
              <a:rPr lang="ko-KR" dirty="0"/>
              <a:t>오른쪽은 합성 데이터로 시나리오를 끝까지 진행한 실제 앱 화면입니다.</a:t>
            </a:r>
            <a:endParaRPr lang="en-US" dirty="0"/>
          </a:p>
          <a:p>
            <a:r>
              <a:rPr lang="ko-KR" dirty="0"/>
              <a:t>먼저 왜 여기서 출발했는지부터 말씀드리겠습니다.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572000"/>
            <a:ext cx="5486400" cy="6400800"/>
          </a:xfrm>
        </p:spPr>
        <p:txBody>
          <a:bodyPr/>
          <a:lstStyle/>
          <a:p>
            <a:r>
              <a:rPr lang="ko-KR" dirty="0"/>
              <a:t>정렬 레시피를 바꾸고 승인까지 받았다고 해보겠습니다. 서명은 남습니다.</a:t>
            </a:r>
            <a:endParaRPr lang="en-US" dirty="0"/>
          </a:p>
          <a:p>
            <a:r>
              <a:rPr lang="ko-KR" dirty="0"/>
              <a:t>그런데 몇 주 뒤 결함이 늘면, 그때 무슨 기준으로 통과시켰는지, 근거 데이터는 어디 있는지부터 다시 찾아야 합니다. 측정값과 AOI 결과가 각자 다른 시스템에 있으니까요.</a:t>
            </a:r>
            <a:endParaRPr lang="en-US" dirty="0"/>
          </a:p>
          <a:p>
            <a:r>
              <a:rPr lang="ko-KR" dirty="0"/>
              <a:t>세 번째 칸, 정비 뒤에 결함이 늘어난 경우는 뒤에서 실제 화면으로 다시 보여드리겠습니다.</a:t>
            </a:r>
            <a:endParaRPr lang="en-US" dirty="0"/>
          </a:p>
          <a:p>
            <a:r>
              <a:rPr lang="ko-KR" dirty="0"/>
              <a:t>출발점은 아래 한 줄입니다. 그러려면 무엇을 통과로 볼지부터 정해야 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572000"/>
            <a:ext cx="5486400" cy="6400800"/>
          </a:xfrm>
        </p:spPr>
        <p:txBody>
          <a:bodyPr/>
          <a:lstStyle/>
          <a:p>
            <a:r>
              <a:rPr lang="ko-KR" dirty="0"/>
              <a:t>코드를 쓰기 전에 정한 게 이 여섯 칸입니다.</a:t>
            </a:r>
            <a:endParaRPr lang="en-US" dirty="0"/>
          </a:p>
          <a:p>
            <a:r>
              <a:rPr lang="ko-KR" dirty="0"/>
              <a:t>두 군데만 봐주시면 됩니다. 먼저 두 번째 칸입니다. 합격 기준은 측정 전에 승인합니다. 결과를 보고 나서 기준을 맞추는 일이 없게 하려는 겁니다.</a:t>
            </a:r>
            <a:endParaRPr lang="en-US" dirty="0"/>
          </a:p>
          <a:p>
            <a:r>
              <a:rPr lang="ko-KR" dirty="0"/>
              <a:t>다음은 마지막 효과성 칸입니다. 수락한 뒤에도 후속 LOT이 충분히 쌓이기 전에는 종결할 수 없습니다.</a:t>
            </a:r>
            <a:endParaRPr lang="en-US" dirty="0"/>
          </a:p>
          <a:p>
            <a:r>
              <a:rPr lang="ko-KR" dirty="0"/>
              <a:t>아래는 같은 여섯 단계가 실제 앱에 들어간 모습입니다.</a:t>
            </a:r>
            <a:endParaRPr lang="en-US" dirty="0"/>
          </a:p>
          <a:p>
            <a:r>
              <a:rPr lang="ko-KR" dirty="0"/>
              <a:t>이 기준을 실제 변경에 걸어보면 어떻게 되는지 보겠습니다.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572000"/>
            <a:ext cx="5486400" cy="6400800"/>
          </a:xfrm>
        </p:spPr>
        <p:txBody>
          <a:bodyPr/>
          <a:lstStyle/>
          <a:p>
            <a:r>
              <a:rPr lang="ko-KR" dirty="0"/>
              <a:t>정렬 레시피를 바꾸는 변경입니다. 핵심 특성을 건드리니까 규칙상 L3, 가장 높은 등급으로 분류됐습니다.</a:t>
            </a:r>
            <a:endParaRPr lang="en-US" dirty="0"/>
          </a:p>
          <a:p>
            <a:r>
              <a:rPr lang="ko-KR" dirty="0"/>
              <a:t>첫 개정 R1에서 정렬 편차가 0.100 mm 나왔습니다. 기준이 0.08 mm니까 불합격입니다.</a:t>
            </a:r>
            <a:endParaRPr lang="en-US" dirty="0"/>
          </a:p>
          <a:p>
            <a:r>
              <a:rPr lang="ko-KR" dirty="0"/>
              <a:t>여기서 보셨으면 하는 건 숫자보다, 이 불합격을 지우지 않았다는 점입니다. 수정한 뒤 R2 개정으로 다시 검증했고, 두 기록이 한 화면에 나란히 남습니다.</a:t>
            </a:r>
            <a:endParaRPr lang="en-US" dirty="0"/>
          </a:p>
          <a:p>
            <a:r>
              <a:rPr lang="ko-KR" dirty="0"/>
              <a:t>R2는 기준 세 개를 모두 통과했습니다. 그럼 이 결과는 누가 승인할 수 있을까요.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572000"/>
            <a:ext cx="5486400" cy="6400800"/>
          </a:xfrm>
        </p:spPr>
        <p:txBody>
          <a:bodyPr/>
          <a:lstStyle/>
          <a:p>
            <a:r>
              <a:rPr lang="ko-KR" dirty="0"/>
              <a:t>왼쪽은 요청자인 제조 엔지니어 역할로 수락을 시도한 화면입니다. 차단 사유가 뜨고, 승인자로 바꾸라고 안내합니다.</a:t>
            </a:r>
            <a:endParaRPr lang="en-US" dirty="0"/>
          </a:p>
          <a:p>
            <a:r>
              <a:rPr lang="ko-KR" dirty="0"/>
              <a:t>다만 화면에서 막는 건 안내일 뿐이고, 실제 판정은 서버가 요청마다 다시 합니다.</a:t>
            </a:r>
            <a:endParaRPr lang="en-US" dirty="0"/>
          </a:p>
          <a:p>
            <a:r>
              <a:rPr lang="ko-KR" dirty="0"/>
              <a:t>표는 단계별로 누가 기록할 수 없는지 정리한 것입니다. 오른쪽 아래가 R2에 실제로 남은 독립 결정이고, 검토자와 승인자가 따로 기록했습니다.</a:t>
            </a:r>
            <a:endParaRPr lang="en-US" dirty="0"/>
          </a:p>
          <a:p>
            <a:r>
              <a:rPr lang="ko-KR" dirty="0"/>
              <a:t>여기까지는 변경을 들여올 때의 이야기입니다. 그런데 이상은 수락한 뒤 설비에서 생기기도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572000"/>
            <a:ext cx="5486400" cy="6400800"/>
          </a:xfrm>
        </p:spPr>
        <p:txBody>
          <a:bodyPr/>
          <a:lstStyle/>
          <a:p>
            <a:r>
              <a:rPr lang="ko-KR" dirty="0"/>
              <a:t>처음에 말씀드린 세 번째 문제입니다. 08-24 정비 뒤에 기준점 인식 불량이 늘었습니다.</a:t>
            </a:r>
            <a:endParaRPr lang="en-US" dirty="0"/>
          </a:p>
          <a:p>
            <a:r>
              <a:rPr lang="ko-KR" dirty="0"/>
              <a:t>이럴 때 가장 먼저 나오는 질문은 어느 LOT까지 봐야 하느냐입니다. 정비 시각과 마지막 정상 관측, LKG로 노출 구간을 잡고 LOT을 네 가지로 나눴습니다.</a:t>
            </a:r>
            <a:endParaRPr lang="en-US" dirty="0"/>
          </a:p>
          <a:p>
            <a:r>
              <a:rPr lang="ko-KR" dirty="0"/>
              <a:t>LOT-A-025를 봐주세요. 샘플 AOI만으로는 정상이라고 할 수 없어서, 제외하지 않고 불확실로 남겼습니다. 시스템이 정상이라고 추정하지 않게 한 겁니다. 보류는 검토자가 LOT마다 사유를 적고 결정했습니다.</a:t>
            </a:r>
            <a:endParaRPr lang="en-US" dirty="0"/>
          </a:p>
          <a:p>
            <a:r>
              <a:rPr lang="ko-KR" dirty="0"/>
              <a:t>다시 변경으로 돌아가면, 수락했다고 추적이 끝나지도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572000"/>
            <a:ext cx="5486400" cy="6400800"/>
          </a:xfrm>
        </p:spPr>
        <p:txBody>
          <a:bodyPr/>
          <a:lstStyle/>
          <a:p>
            <a:r>
              <a:rPr lang="ko-KR" dirty="0"/>
              <a:t>수락 당일 바로 평가하면 후속 LOT이 하나도 없습니다. 이건 합격이 아니라 데이터 부족이고, 이 상태로는 종결할 수 없습니다.</a:t>
            </a:r>
            <a:endParaRPr lang="en-US" dirty="0"/>
          </a:p>
          <a:p>
            <a:r>
              <a:rPr lang="ko-KR" dirty="0"/>
              <a:t>08-23에는 후속 LOT이 필요한 만큼 쌓였고 합격이 나와서, 승인자가 모니터링을 종결했습니다.</a:t>
            </a:r>
            <a:endParaRPr lang="en-US" dirty="0"/>
          </a:p>
          <a:p>
            <a:r>
              <a:rPr lang="ko-KR" dirty="0"/>
              <a:t>그런데 09-10 평가에서 관련 설비 경보가 아직 해결되지 않은 게 걸렸습니다. 결과는 재개 필요였고, 품질 엔지니어가 다시 열었습니다.</a:t>
            </a:r>
            <a:endParaRPr lang="en-US" dirty="0"/>
          </a:p>
          <a:p>
            <a:r>
              <a:rPr lang="ko-KR" dirty="0"/>
              <a:t>오른쪽 재개 기록을 보시면 이전 종결이 '보존됨'으로 남아 있습니다.</a:t>
            </a:r>
            <a:endParaRPr lang="en-US" dirty="0"/>
          </a:p>
          <a:p>
            <a:r>
              <a:rPr lang="ko-KR" dirty="0"/>
              <a:t>여기까지가 제품이 하는 일입니다. 이게 실제로 이렇게 동작하는지는 따로 확인했습니다.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572000"/>
            <a:ext cx="5486400" cy="6400800"/>
          </a:xfrm>
        </p:spPr>
        <p:txBody>
          <a:bodyPr/>
          <a:lstStyle/>
          <a:p>
            <a:r>
              <a:rPr lang="ko-KR" dirty="0"/>
              <a:t>확인은 세 층으로 나눠서 했습니다.</a:t>
            </a:r>
            <a:endParaRPr lang="en-US" dirty="0"/>
          </a:p>
          <a:p>
            <a:r>
              <a:rPr lang="ko-KR" dirty="0"/>
              <a:t>규칙은 자동 테스트로 봤고, Windows에서 291개 모두 통과했습니다. 배포 번들은 인터넷 없이 도는지 오프라인 검증기로 따로 확인했습니다.</a:t>
            </a:r>
            <a:endParaRPr lang="en-US" dirty="0"/>
          </a:p>
          <a:p>
            <a:r>
              <a:rPr lang="ko-KR" dirty="0"/>
              <a:t>마지막으로 Playwright로 Chromium을 띄워 실제 앱을 조작하면서, 변경 두 건과 사건 한 건을 끝까지 진행했습니다. 콘솔 오류도, 밖으로 나가는 요청도 없었습니다.</a:t>
            </a:r>
            <a:endParaRPr lang="en-US" dirty="0"/>
          </a:p>
          <a:p>
            <a:r>
              <a:rPr lang="ko-KR" dirty="0"/>
              <a:t>아래 칸도 같이 봐주셨으면 합니다. 확인하지 않은 것도 분명히 해두고 싶었습니다.</a:t>
            </a:r>
            <a:endParaRPr lang="en-US" dirty="0"/>
          </a:p>
          <a:p>
            <a:r>
              <a:rPr lang="ko-KR" dirty="0"/>
              <a:t>그럼 어디까지 제가 정했고, AI는 어디에 썼는지 말씀드리겠습니다.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572000"/>
            <a:ext cx="5486400" cy="6400800"/>
          </a:xfrm>
        </p:spPr>
        <p:txBody>
          <a:bodyPr/>
          <a:lstStyle/>
          <a:p>
            <a:r>
              <a:rPr lang="ko-KR" dirty="0"/>
              <a:t>제가 한 일을 정리하면 이렇습니다.</a:t>
            </a:r>
            <a:endParaRPr lang="en-US" dirty="0"/>
          </a:p>
          <a:p>
            <a:r>
              <a:rPr lang="ko-KR" dirty="0"/>
              <a:t>무엇이 문제인지, 무엇을 합격으로 볼지, 누가 무엇을 결정하면 안 되는지, 어떤 기록만 근거로 인정할지. 이건 코드보다 먼저 제가 정했습니다.</a:t>
            </a:r>
            <a:endParaRPr lang="en-US" dirty="0"/>
          </a:p>
          <a:p>
            <a:r>
              <a:rPr lang="ko-KR" dirty="0"/>
              <a:t>AI 코딩 도구는 그 기준을 코드와 테스트로 옮기고 검토하는 데 썼습니다. 덕분에 반복은 빨랐습니다. 그래도 반영할지는 매번 같은 테스트와 실제 실행 결과를 보고 정했습니다.</a:t>
            </a:r>
            <a:endParaRPr lang="en-US" dirty="0"/>
          </a:p>
          <a:p>
            <a:r>
              <a:rPr lang="ko-KR" dirty="0"/>
              <a:t>다음 단계는 이 판단 구조를 실제 MES와 설비 데이터, 그리고 전자서명 위에 올려보는 것입니다.</a:t>
            </a:r>
            <a:endParaRPr lang="en-US" dirty="0"/>
          </a:p>
          <a:p>
            <a:r>
              <a:rPr lang="ko-KR" dirty="0"/>
              <a:t>감사합니다.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572000"/>
            <a:ext cx="5486400" cy="6400800"/>
          </a:xfrm>
        </p:spPr>
        <p:txBody>
          <a:bodyPr/>
          <a:lstStyle/>
          <a:p>
            <a:r>
              <a:rPr lang="ko-KR" dirty="0"/>
              <a:t>브라우저는 보여주고 입력받는 일만 합니다. 상태 전이, 역할 분리, 근거 적합성, 효과성 판정은 전부 서버의 도메인 규칙이 요청마다 다시 검사합니다.</a:t>
            </a:r>
            <a:endParaRPr lang="en-US" dirty="0"/>
          </a:p>
          <a:p>
            <a:r>
              <a:rPr lang="ko-KR" dirty="0"/>
              <a:t>기록은 SQLite에 남고, 감사 기록은 해시 체인으로 이어집니다.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572000"/>
            <a:ext cx="5486400" cy="6400800"/>
          </a:xfrm>
        </p:spPr>
        <p:txBody>
          <a:bodyPr/>
          <a:lstStyle/>
          <a:p>
            <a:r>
              <a:rPr lang="ko-KR" dirty="0"/>
              <a:t>변경과 사건의 저장 상태, 그리고 단계별로 기록할 수 없는 사람을 정리한 표입니다.</a:t>
            </a:r>
            <a:endParaRPr lang="en-US" dirty="0"/>
          </a:p>
          <a:p>
            <a:r>
              <a:rPr lang="ko-KR" dirty="0"/>
              <a:t>화면의 한국어 상태 이름은 표시용이고, 서버는 저장된 상태값으로 전이를 검사합니다.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572000"/>
            <a:ext cx="5486400" cy="6400800"/>
          </a:xfrm>
        </p:spPr>
        <p:txBody>
          <a:bodyPr/>
          <a:lstStyle/>
          <a:p>
            <a:r>
              <a:rPr lang="ko-KR" dirty="0"/>
              <a:t>개발은 계약, 구현, 자동 테스트, 실제 브라우저 확인 순서로 반복했습니다.</a:t>
            </a:r>
            <a:endParaRPr lang="en-US" dirty="0"/>
          </a:p>
          <a:p>
            <a:r>
              <a:rPr lang="ko-KR" dirty="0"/>
              <a:t>AI 코딩 도구는 구현과 검토에 썼고, 반영 여부는 늘 같은 테스트와 실행 확인으로 정했습니다. 제품이 실행될 때 외부 AI를 호출하지는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8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flipH="1">
            <a:off x="548640" y="676656"/>
            <a:ext cx="182880" cy="457200"/>
          </a:xfrm>
          <a:prstGeom prst="parallelogram">
            <a:avLst/>
          </a:prstGeom>
          <a:solidFill>
            <a:srgbClr val="D46F38"/>
          </a:solidFill>
          <a:ln w="12700">
            <a:solidFill>
              <a:srgbClr val="D46F3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flipH="1">
            <a:off x="722376" y="621792"/>
            <a:ext cx="182880" cy="512064"/>
          </a:xfrm>
          <a:prstGeom prst="parallelogram">
            <a:avLst/>
          </a:prstGeom>
          <a:solidFill>
            <a:srgbClr val="17756D"/>
          </a:solidFill>
          <a:ln w="12700">
            <a:solidFill>
              <a:srgbClr val="17756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H="1">
            <a:off x="896112" y="566928"/>
            <a:ext cx="182880" cy="566928"/>
          </a:xfrm>
          <a:prstGeom prst="parallelogram">
            <a:avLst/>
          </a:prstGeom>
          <a:solidFill>
            <a:srgbClr val="F3E7D3"/>
          </a:solidFill>
          <a:ln w="12700">
            <a:solidFill>
              <a:srgbClr val="F3E7D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234440" y="50292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FabAssure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1252728" y="98755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B6D2D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제조 변경 품질 관리 소프트웨어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874520"/>
            <a:ext cx="53949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변경이 끝났다고</a:t>
            </a:r>
            <a:endParaRPr lang="en-US" sz="3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말하지 않는다.</a:t>
            </a:r>
            <a:endParaRPr lang="en-US" sz="3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61188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DCE8E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무엇을, 어떤 근거로, 누가 판단했고,</a:t>
            </a:r>
            <a:endParaRPr lang="en-US" sz="16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DCE8E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판단이 이후 생산에서도 유지됐는지 기록한다.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4846320"/>
            <a:ext cx="768096" cy="384048"/>
          </a:xfrm>
          <a:prstGeom prst="roundRect">
            <a:avLst>
              <a:gd name="adj" fmla="val 47619"/>
            </a:avLst>
          </a:prstGeom>
          <a:solidFill>
            <a:srgbClr val="203944"/>
          </a:solidFill>
          <a:ln w="9525">
            <a:solidFill>
              <a:srgbClr val="38565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4846320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1298448" y="4846320"/>
            <a:ext cx="16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F8B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444752" y="4846320"/>
            <a:ext cx="768096" cy="384048"/>
          </a:xfrm>
          <a:prstGeom prst="roundRect">
            <a:avLst>
              <a:gd name="adj" fmla="val 47619"/>
            </a:avLst>
          </a:prstGeom>
          <a:solidFill>
            <a:srgbClr val="203944"/>
          </a:solidFill>
          <a:ln w="9525">
            <a:solidFill>
              <a:srgbClr val="38565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444752" y="4846320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2194560" y="4846320"/>
            <a:ext cx="16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F8B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2340864" y="4846320"/>
            <a:ext cx="768096" cy="384048"/>
          </a:xfrm>
          <a:prstGeom prst="roundRect">
            <a:avLst>
              <a:gd name="adj" fmla="val 47619"/>
            </a:avLst>
          </a:prstGeom>
          <a:solidFill>
            <a:srgbClr val="203944"/>
          </a:solidFill>
          <a:ln w="9525">
            <a:solidFill>
              <a:srgbClr val="38565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340864" y="4846320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3090672" y="4846320"/>
            <a:ext cx="16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F8B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236976" y="4846320"/>
            <a:ext cx="768096" cy="384048"/>
          </a:xfrm>
          <a:prstGeom prst="roundRect">
            <a:avLst>
              <a:gd name="adj" fmla="val 47619"/>
            </a:avLst>
          </a:prstGeom>
          <a:solidFill>
            <a:srgbClr val="203944"/>
          </a:solidFill>
          <a:ln w="9525">
            <a:solidFill>
              <a:srgbClr val="38565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236976" y="4846320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검토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3986784" y="4846320"/>
            <a:ext cx="16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F8B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133088" y="4846320"/>
            <a:ext cx="768096" cy="384048"/>
          </a:xfrm>
          <a:prstGeom prst="roundRect">
            <a:avLst>
              <a:gd name="adj" fmla="val 47619"/>
            </a:avLst>
          </a:prstGeom>
          <a:solidFill>
            <a:srgbClr val="203944"/>
          </a:solidFill>
          <a:ln w="9525">
            <a:solidFill>
              <a:srgbClr val="38565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133088" y="4846320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수락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4882896" y="4846320"/>
            <a:ext cx="16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F8B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029200" y="4846320"/>
            <a:ext cx="768096" cy="384048"/>
          </a:xfrm>
          <a:prstGeom prst="roundRect">
            <a:avLst>
              <a:gd name="adj" fmla="val 47619"/>
            </a:avLst>
          </a:prstGeom>
          <a:solidFill>
            <a:srgbClr val="D46F38"/>
          </a:solidFill>
          <a:ln w="9525">
            <a:solidFill>
              <a:srgbClr val="D46F3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029200" y="4846320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효과성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548640" y="619963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7F9A9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SK하이닉스 AI 해커톤 · 최종 포트폴리오</a:t>
            </a:r>
            <a:endParaRPr lang="en-US" sz="1100" dirty="0"/>
          </a:p>
        </p:txBody>
      </p:sp>
      <p:pic>
        <p:nvPicPr>
          <p:cNvPr id="27" name="Image 0" descr="FabAssure 개요 화면: 6단계 흐름과 진행 중인 변경·사건 건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63640" y="1948906"/>
            <a:ext cx="5394960" cy="2868749"/>
          </a:xfrm>
          <a:prstGeom prst="rect">
            <a:avLst/>
          </a:prstGeom>
        </p:spPr>
      </p:pic>
      <p:sp>
        <p:nvSpPr>
          <p:cNvPr id="28" name="Text 25"/>
          <p:cNvSpPr txBox="1"/>
          <p:nvPr/>
        </p:nvSpPr>
        <p:spPr>
          <a:xfrm>
            <a:off x="6263640" y="5230368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7F9A9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앱 개요 화면 · 변경 R1 불합격 → R2 수락 후 효과성 확인 중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F1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2A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변경은 '완료'로 끝나지 않는다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9728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366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문제가 드러나는 건 대개 승인 서명 뒤입니다.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0911535" y="644652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B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3429000" cy="265176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9525">
            <a:solidFill>
              <a:srgbClr val="D9E2D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68680" y="2468880"/>
            <a:ext cx="566928" cy="566928"/>
          </a:xfrm>
          <a:prstGeom prst="ellipse">
            <a:avLst/>
          </a:prstGeom>
          <a:solidFill>
            <a:srgbClr val="E3F0EC"/>
          </a:solidFill>
          <a:ln w="12700">
            <a:solidFill>
              <a:srgbClr val="E3F0EC"/>
            </a:solidFill>
            <a:prstDash val="solid"/>
          </a:ln>
        </p:spPr>
      </p:sp>
      <p:pic>
        <p:nvPicPr>
          <p:cNvPr id="7" name="Image 0" descr="레시피·모듈 변경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2606040"/>
            <a:ext cx="292608" cy="292608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3154680" y="2532888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8A9B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868680" y="3200400"/>
            <a:ext cx="2880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72A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레시피·모듈 변경</a:t>
            </a:r>
            <a:endParaRPr lang="en-US" sz="1900" dirty="0"/>
          </a:p>
        </p:txBody>
      </p:sp>
      <p:sp>
        <p:nvSpPr>
          <p:cNvPr id="10" name="Text 7"/>
          <p:cNvSpPr txBox="1"/>
          <p:nvPr/>
        </p:nvSpPr>
        <p:spPr>
          <a:xfrm>
            <a:off x="868680" y="3703320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5366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변경은 승인 서명으로 닫힌다.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5366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무엇을 기준으로 통과시켰는지는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5366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서명에 남지 않는다.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3977640" y="3246120"/>
            <a:ext cx="4023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AABA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⋯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4379976" y="2148840"/>
            <a:ext cx="3429000" cy="265176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9525">
            <a:solidFill>
              <a:srgbClr val="D9E2DE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700016" y="2468880"/>
            <a:ext cx="566928" cy="566928"/>
          </a:xfrm>
          <a:prstGeom prst="ellipse">
            <a:avLst/>
          </a:prstGeom>
          <a:solidFill>
            <a:srgbClr val="E3F0EC"/>
          </a:solidFill>
          <a:ln w="12700">
            <a:solidFill>
              <a:srgbClr val="E3F0EC"/>
            </a:solidFill>
            <a:prstDash val="solid"/>
          </a:ln>
        </p:spPr>
      </p:sp>
      <p:pic>
        <p:nvPicPr>
          <p:cNvPr id="14" name="Image 1" descr="근거는 흩어진다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7176" y="2606040"/>
            <a:ext cx="292608" cy="292608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6986016" y="2532888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8A9B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1300" dirty="0"/>
          </a:p>
        </p:txBody>
      </p:sp>
      <p:sp>
        <p:nvSpPr>
          <p:cNvPr id="16" name="Text 12"/>
          <p:cNvSpPr txBox="1"/>
          <p:nvPr/>
        </p:nvSpPr>
        <p:spPr>
          <a:xfrm>
            <a:off x="4700016" y="3200400"/>
            <a:ext cx="2880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72A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근거는 흩어진다</a:t>
            </a:r>
            <a:endParaRPr lang="en-US" sz="1900" dirty="0"/>
          </a:p>
        </p:txBody>
      </p:sp>
      <p:sp>
        <p:nvSpPr>
          <p:cNvPr id="17" name="Text 13"/>
          <p:cNvSpPr txBox="1"/>
          <p:nvPr/>
        </p:nvSpPr>
        <p:spPr>
          <a:xfrm>
            <a:off x="4700016" y="3703320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5366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측정값과 AOI 결과는 각 시스템에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5366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남고, 승인 결정과 연결되지 않는다.</a:t>
            </a:r>
            <a:endParaRPr lang="en-US" sz="1300" dirty="0"/>
          </a:p>
        </p:txBody>
      </p:sp>
      <p:sp>
        <p:nvSpPr>
          <p:cNvPr id="18" name="Text 14"/>
          <p:cNvSpPr txBox="1"/>
          <p:nvPr/>
        </p:nvSpPr>
        <p:spPr>
          <a:xfrm>
            <a:off x="7808976" y="3246120"/>
            <a:ext cx="4023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AABA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⋯</a:t>
            </a:r>
            <a:endParaRPr lang="en-US" sz="1800" dirty="0"/>
          </a:p>
        </p:txBody>
      </p:sp>
      <p:sp>
        <p:nvSpPr>
          <p:cNvPr id="19" name="Shape 15"/>
          <p:cNvSpPr/>
          <p:nvPr/>
        </p:nvSpPr>
        <p:spPr>
          <a:xfrm>
            <a:off x="8211312" y="2148840"/>
            <a:ext cx="3429000" cy="265176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9525">
            <a:solidFill>
              <a:srgbClr val="D9E2DE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8531352" y="2468880"/>
            <a:ext cx="566928" cy="566928"/>
          </a:xfrm>
          <a:prstGeom prst="ellipse">
            <a:avLst/>
          </a:prstGeom>
          <a:solidFill>
            <a:srgbClr val="FFF6EE"/>
          </a:solidFill>
          <a:ln w="12700">
            <a:solidFill>
              <a:srgbClr val="FFF6EE"/>
            </a:solidFill>
            <a:prstDash val="solid"/>
          </a:ln>
        </p:spPr>
      </p:sp>
      <p:pic>
        <p:nvPicPr>
          <p:cNvPr id="21" name="Image 2" descr="이상이 생기면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68512" y="2606040"/>
            <a:ext cx="292608" cy="292608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10817352" y="2532888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8A9B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1300" dirty="0"/>
          </a:p>
        </p:txBody>
      </p:sp>
      <p:sp>
        <p:nvSpPr>
          <p:cNvPr id="23" name="Text 18"/>
          <p:cNvSpPr txBox="1"/>
          <p:nvPr/>
        </p:nvSpPr>
        <p:spPr>
          <a:xfrm>
            <a:off x="8531352" y="3200400"/>
            <a:ext cx="2880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72A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이상이 생기면</a:t>
            </a:r>
            <a:endParaRPr lang="en-US" sz="1900" dirty="0"/>
          </a:p>
        </p:txBody>
      </p:sp>
      <p:sp>
        <p:nvSpPr>
          <p:cNvPr id="24" name="Text 19"/>
          <p:cNvSpPr txBox="1"/>
          <p:nvPr/>
        </p:nvSpPr>
        <p:spPr>
          <a:xfrm>
            <a:off x="8531352" y="3703320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5366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정비 뒤 결함이 늘어도 어느 LOT이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5366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노출됐는지 되짚기 어렵다.</a:t>
            </a:r>
            <a:endParaRPr lang="en-US" sz="1300" dirty="0"/>
          </a:p>
        </p:txBody>
      </p:sp>
      <p:sp>
        <p:nvSpPr>
          <p:cNvPr id="25" name="Shape 20"/>
          <p:cNvSpPr/>
          <p:nvPr/>
        </p:nvSpPr>
        <p:spPr>
          <a:xfrm>
            <a:off x="548640" y="5120640"/>
            <a:ext cx="11094415" cy="868680"/>
          </a:xfrm>
          <a:prstGeom prst="roundRect">
            <a:avLst>
              <a:gd name="adj" fmla="val 8421"/>
            </a:avLst>
          </a:prstGeom>
          <a:solidFill>
            <a:srgbClr val="203944"/>
          </a:solidFill>
          <a:ln w="9525">
            <a:solidFill>
              <a:srgbClr val="203944"/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868680" y="5120640"/>
            <a:ext cx="1280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6D2D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필요한 것</a:t>
            </a:r>
            <a:endParaRPr lang="en-US" sz="1300" dirty="0"/>
          </a:p>
        </p:txBody>
      </p:sp>
      <p:sp>
        <p:nvSpPr>
          <p:cNvPr id="27" name="Text 22"/>
          <p:cNvSpPr txBox="1"/>
          <p:nvPr/>
        </p:nvSpPr>
        <p:spPr>
          <a:xfrm>
            <a:off x="2148840" y="5120640"/>
            <a:ext cx="8686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 하나에 기준 · 근거 · 판단한 사람 · 이후 결과가 함께 묶인 기록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DF1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2A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판단 기준을 먼저 정했다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9728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366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단계마다 무엇을 통과로 볼지, 누가 결정할 수 없는지 적어 두었습니다.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0911535" y="644652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B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48640" y="2057400"/>
            <a:ext cx="1956816" cy="658368"/>
          </a:xfrm>
          <a:prstGeom prst="homePlate">
            <a:avLst/>
          </a:prstGeom>
          <a:solidFill>
            <a:srgbClr val="203944"/>
          </a:solidFill>
          <a:ln w="19050">
            <a:solidFill>
              <a:srgbClr val="EDF1E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2057400"/>
            <a:ext cx="13441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  변경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03504" y="2926080"/>
            <a:ext cx="173736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9525">
            <a:solidFill>
              <a:srgbClr val="D9E2D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13232" y="3063240"/>
            <a:ext cx="15727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72A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위험은 규칙으로 분류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72A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특성 변경은 L3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2395728" y="2057400"/>
            <a:ext cx="1956816" cy="658368"/>
          </a:xfrm>
          <a:prstGeom prst="chevron">
            <a:avLst/>
          </a:prstGeom>
          <a:solidFill>
            <a:srgbClr val="203944"/>
          </a:solidFill>
          <a:ln w="19050">
            <a:solidFill>
              <a:srgbClr val="EDF1E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852928" y="2057400"/>
            <a:ext cx="13441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  검증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2450592" y="2926080"/>
            <a:ext cx="173736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9525">
            <a:solidFill>
              <a:srgbClr val="D9E2D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560320" y="3063240"/>
            <a:ext cx="15727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72A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기준은 측정 전 승인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72A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정렬 ≤ 0.08 mm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72A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AOI 불량률 ≤ 2 %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72A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중대 결함 0건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242816" y="2057400"/>
            <a:ext cx="1956816" cy="658368"/>
          </a:xfrm>
          <a:prstGeom prst="chevron">
            <a:avLst/>
          </a:prstGeom>
          <a:solidFill>
            <a:srgbClr val="203944"/>
          </a:solidFill>
          <a:ln w="19050">
            <a:solidFill>
              <a:srgbClr val="EDF1E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00016" y="2057400"/>
            <a:ext cx="13441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  근거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4297680" y="2926080"/>
            <a:ext cx="173736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9525">
            <a:solidFill>
              <a:srgbClr val="D9E2DE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407408" y="3063240"/>
            <a:ext cx="15727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72A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측정·AOI 원천만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72A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근거로 인정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72A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 시작 후 LOT만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089904" y="2057400"/>
            <a:ext cx="1956816" cy="658368"/>
          </a:xfrm>
          <a:prstGeom prst="chevron">
            <a:avLst/>
          </a:prstGeom>
          <a:solidFill>
            <a:srgbClr val="203944"/>
          </a:solidFill>
          <a:ln w="19050">
            <a:solidFill>
              <a:srgbClr val="EDF1EE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547104" y="2057400"/>
            <a:ext cx="13441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  검토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144768" y="2926080"/>
            <a:ext cx="173736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9525">
            <a:solidFill>
              <a:srgbClr val="D9E2DE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254496" y="3063240"/>
            <a:ext cx="15727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72A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요청자·근거 기록자는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72A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검토할 수 없음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7936992" y="2057400"/>
            <a:ext cx="1956816" cy="658368"/>
          </a:xfrm>
          <a:prstGeom prst="chevron">
            <a:avLst/>
          </a:prstGeom>
          <a:solidFill>
            <a:srgbClr val="203944"/>
          </a:solidFill>
          <a:ln w="19050">
            <a:solidFill>
              <a:srgbClr val="EDF1EE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394192" y="2057400"/>
            <a:ext cx="13441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  수락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7991856" y="2926080"/>
            <a:ext cx="173736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9525">
            <a:solidFill>
              <a:srgbClr val="D9E2DE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101584" y="3063240"/>
            <a:ext cx="15727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72A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요청·검토와 다른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72A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승인자가 수락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72A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조건부는 만료 필수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9784080" y="2057400"/>
            <a:ext cx="1956816" cy="658368"/>
          </a:xfrm>
          <a:prstGeom prst="chevron">
            <a:avLst/>
          </a:prstGeom>
          <a:solidFill>
            <a:srgbClr val="D46F38"/>
          </a:solidFill>
          <a:ln w="19050">
            <a:solidFill>
              <a:srgbClr val="EDF1EE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10241280" y="2057400"/>
            <a:ext cx="13441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  효과성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9838944" y="2926080"/>
            <a:ext cx="173736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9525">
            <a:solidFill>
              <a:srgbClr val="D9E2DE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9948672" y="3063240"/>
            <a:ext cx="15727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72A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후속 LOT 부족 시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72A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종결할 수 없음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72A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재발하면 재개,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72A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이전 결정 보존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548640" y="4892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366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앱 개요 화면 · 같은 여섯 단계의 진행 건수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12064" y="5193792"/>
            <a:ext cx="11167567" cy="1031929"/>
          </a:xfrm>
          <a:prstGeom prst="rect">
            <a:avLst/>
          </a:prstGeom>
          <a:solidFill>
            <a:srgbClr val="FFFFFF"/>
          </a:solidFill>
          <a:ln w="9525">
            <a:solidFill>
              <a:srgbClr val="D9E2DE"/>
            </a:solidFill>
            <a:prstDash val="solid"/>
          </a:ln>
          <a:effectLst>
            <a:outerShdw sx="100000" sy="100000" kx="0" ky="0" algn="bl" rotWithShape="0" blurRad="76200" dist="25400" dir="5400000">
              <a:srgbClr val="193A32">
                <a:alpha val="12000"/>
              </a:srgbClr>
            </a:outerShdw>
          </a:effectLst>
        </p:spPr>
      </p:sp>
      <p:pic>
        <p:nvPicPr>
          <p:cNvPr id="31" name="Image 0" descr="개요 화면의 변경 흐름 6단계와 단계별 건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230368"/>
            <a:ext cx="11094415" cy="958777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DF1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2A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불합격은 지워지지 않는다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9728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366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첫 검증은 불합격이었습니다. 그 기록은 그대로 두고, 새 개정에서 다시 검증했습니다.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0911535" y="644652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B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12064" y="1975104"/>
            <a:ext cx="11167567" cy="2710221"/>
          </a:xfrm>
          <a:prstGeom prst="rect">
            <a:avLst/>
          </a:prstGeom>
          <a:solidFill>
            <a:srgbClr val="FFFFFF"/>
          </a:solidFill>
          <a:ln w="9525">
            <a:solidFill>
              <a:srgbClr val="D9E2DE"/>
            </a:solidFill>
            <a:prstDash val="solid"/>
          </a:ln>
          <a:effectLst>
            <a:outerShdw sx="100000" sy="100000" kx="0" ky="0" algn="bl" rotWithShape="0" blurRad="76200" dist="25400" dir="5400000">
              <a:srgbClr val="193A32">
                <a:alpha val="12000"/>
              </a:srgbClr>
            </a:outerShdw>
          </a:effectLst>
        </p:spPr>
      </p:sp>
      <p:pic>
        <p:nvPicPr>
          <p:cNvPr id="6" name="Image 0" descr="변경 상세: R1 정렬 편차 0.100 mm 불합격, R2 0.052 mm 합격 기준표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011680"/>
            <a:ext cx="11094415" cy="2637069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48640" y="4983480"/>
            <a:ext cx="521208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9525">
            <a:solidFill>
              <a:srgbClr val="D9E2D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22960" y="514807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5366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R1 · 정렬 편차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5422392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46F3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0.100 mm</a:t>
            </a:r>
            <a:endParaRPr lang="en-US" sz="3000" dirty="0"/>
          </a:p>
        </p:txBody>
      </p:sp>
      <p:sp>
        <p:nvSpPr>
          <p:cNvPr id="10" name="Text 7"/>
          <p:cNvSpPr txBox="1"/>
          <p:nvPr/>
        </p:nvSpPr>
        <p:spPr>
          <a:xfrm>
            <a:off x="3291840" y="525780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366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 ≤ 0.08 mm · 불합격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366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기록은 이전 이력으로 남음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5760720" y="4983480"/>
            <a:ext cx="66751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9AABA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400" dirty="0"/>
          </a:p>
        </p:txBody>
      </p:sp>
      <p:sp>
        <p:nvSpPr>
          <p:cNvPr id="12" name="Shape 9"/>
          <p:cNvSpPr/>
          <p:nvPr/>
        </p:nvSpPr>
        <p:spPr>
          <a:xfrm>
            <a:off x="6428232" y="4983480"/>
            <a:ext cx="521208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9525">
            <a:solidFill>
              <a:srgbClr val="D9E2DE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702552" y="514807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5366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R2 · 재검증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6702552" y="5422392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75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0.052 mm</a:t>
            </a:r>
            <a:endParaRPr lang="en-US" sz="3000" dirty="0"/>
          </a:p>
        </p:txBody>
      </p:sp>
      <p:sp>
        <p:nvSpPr>
          <p:cNvPr id="15" name="Text 12"/>
          <p:cNvSpPr txBox="1"/>
          <p:nvPr/>
        </p:nvSpPr>
        <p:spPr>
          <a:xfrm>
            <a:off x="9171432" y="525780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366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 3개 모두 합격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366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 100건 · AOI 검사 5건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DF1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2A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요청한 사람은 승인하지 못한다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9728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366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화면에서만 막는 게 아니라, 서버가 요청마다 역할을 다시 확인합니다.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0911535" y="644652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B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12064" y="1975104"/>
            <a:ext cx="3483864" cy="4325112"/>
          </a:xfrm>
          <a:prstGeom prst="rect">
            <a:avLst/>
          </a:prstGeom>
          <a:solidFill>
            <a:srgbClr val="FFFFFF"/>
          </a:solidFill>
          <a:ln w="9525">
            <a:solidFill>
              <a:srgbClr val="D9E2DE"/>
            </a:solidFill>
            <a:prstDash val="solid"/>
          </a:ln>
          <a:effectLst>
            <a:outerShdw sx="100000" sy="100000" kx="0" ky="0" algn="bl" rotWithShape="0" blurRad="76200" dist="25400" dir="5400000">
              <a:srgbClr val="193A32">
                <a:alpha val="12000"/>
              </a:srgbClr>
            </a:outerShdw>
          </a:effectLst>
        </p:spPr>
      </p:sp>
      <p:pic>
        <p:nvPicPr>
          <p:cNvPr id="6" name="Image 0" descr="요청자 역할로 변경 수락을 시도했을 때의 다음 작업 카드와 차단 사유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011680"/>
            <a:ext cx="3410712" cy="425196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4754880" y="2011680"/>
            <a:ext cx="68881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72A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변경에서 역할을 겸할 수 없다</a:t>
            </a:r>
            <a:endParaRPr lang="en-US" sz="16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754880" y="2468880"/>
          <a:ext cx="6888175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2011680"/>
                <a:gridCol w="3322015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5366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단계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5366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기록한 역할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5366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기록할 수 없는 사람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72A3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요청 · 제출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72A3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제조 엔지니어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72A3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—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72A3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검증 · 근거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72A3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검증 엔지니어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72A3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—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72A3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독립 검토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72A3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독립 검토자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72A3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요청자 · 근거 기록자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72A3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수락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72A3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승인자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72A3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요청자 · 근거 기록자 · 검토자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4718304" y="4581144"/>
            <a:ext cx="6961327" cy="1242471"/>
          </a:xfrm>
          <a:prstGeom prst="rect">
            <a:avLst/>
          </a:prstGeom>
          <a:solidFill>
            <a:srgbClr val="FFFFFF"/>
          </a:solidFill>
          <a:ln w="9525">
            <a:solidFill>
              <a:srgbClr val="D9E2DE"/>
            </a:solidFill>
            <a:prstDash val="solid"/>
          </a:ln>
          <a:effectLst>
            <a:outerShdw sx="100000" sy="100000" kx="0" ky="0" algn="bl" rotWithShape="0" blurRad="76200" dist="25400" dir="5400000">
              <a:srgbClr val="193A32">
                <a:alpha val="12000"/>
              </a:srgbClr>
            </a:outerShdw>
          </a:effectLst>
        </p:spPr>
      </p:sp>
      <p:pic>
        <p:nvPicPr>
          <p:cNvPr id="10" name="Image 1" descr="R2 개정의 독립 검토와 일반 수락 기록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4617720"/>
            <a:ext cx="6888175" cy="1169319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4754880" y="5897880"/>
            <a:ext cx="68881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366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R2 독립 결정 · 검토자와 승인자가 각각 기록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DF1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2A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이상이 생기면 범위를 계산한다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9728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366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노출 구간은 정비 이력과 마지막 정상 관측(LKG)으로 잡습니다. 정상이라고 확인할 수 없는 LOT은 제외하지 않습니다.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0911535" y="644652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B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965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5366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설비 이력 · 08-24 정비 뒤 기준점 인식 불량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12064" y="2267712"/>
            <a:ext cx="5559552" cy="2617470"/>
          </a:xfrm>
          <a:prstGeom prst="rect">
            <a:avLst/>
          </a:prstGeom>
          <a:solidFill>
            <a:srgbClr val="FFFFFF"/>
          </a:solidFill>
          <a:ln w="9525">
            <a:solidFill>
              <a:srgbClr val="D9E2DE"/>
            </a:solidFill>
            <a:prstDash val="solid"/>
          </a:ln>
          <a:effectLst>
            <a:outerShdw sx="100000" sy="100000" kx="0" ky="0" algn="bl" rotWithShape="0" blurRad="76200" dist="25400" dir="5400000">
              <a:srgbClr val="193A32">
                <a:alpha val="12000"/>
              </a:srgbClr>
            </a:outerShdw>
          </a:effectLst>
        </p:spPr>
      </p:sp>
      <p:pic>
        <p:nvPicPr>
          <p:cNvPr id="7" name="Image 0" descr="설비 이력: 08-24 고장·정비 뒤 LKG 구간과 기준점 인식 불량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304288"/>
            <a:ext cx="5486400" cy="2544318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48640" y="5013198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366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LKG 가능 구간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2011680" y="5013198"/>
            <a:ext cx="4023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A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08-25 08:00 – 12:00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5378958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366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노출 구간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2011680" y="5378958"/>
            <a:ext cx="4023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A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08-25 08:00 → 08-27 10:00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48640" y="5808726"/>
            <a:ext cx="5486400" cy="457200"/>
          </a:xfrm>
          <a:prstGeom prst="roundRect">
            <a:avLst>
              <a:gd name="adj" fmla="val 12000"/>
            </a:avLst>
          </a:prstGeom>
          <a:solidFill>
            <a:srgbClr val="FFF6EE"/>
          </a:solidFill>
          <a:ln w="9525">
            <a:solidFill>
              <a:srgbClr val="F0C9A8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13232" y="5808726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3F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LOT-A-025는 LKG 가능 구간에만 걸쳐 불확실 → 검토자가 보류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6355080" y="1965960"/>
            <a:ext cx="52879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5366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영향 LOT · 확정 영향 1 · 노출 가능 1 · 불확실 1 · 제외 2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6318504" y="2267712"/>
            <a:ext cx="5361127" cy="3517890"/>
          </a:xfrm>
          <a:prstGeom prst="rect">
            <a:avLst/>
          </a:prstGeom>
          <a:solidFill>
            <a:srgbClr val="FFFFFF"/>
          </a:solidFill>
          <a:ln w="9525">
            <a:solidFill>
              <a:srgbClr val="D9E2DE"/>
            </a:solidFill>
            <a:prstDash val="solid"/>
          </a:ln>
          <a:effectLst>
            <a:outerShdw sx="100000" sy="100000" kx="0" ky="0" algn="bl" rotWithShape="0" blurRad="76200" dist="25400" dir="5400000">
              <a:srgbClr val="193A32">
                <a:alpha val="12000"/>
              </a:srgbClr>
            </a:outerShdw>
          </a:effectLst>
        </p:spPr>
      </p:sp>
      <p:pic>
        <p:nvPicPr>
          <p:cNvPr id="16" name="Image 1" descr="영향 LOT 표: 확정 영향·노출 가능·불확실·제외 분류와 처분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304288"/>
            <a:ext cx="5287975" cy="344473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DF1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2A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수락 이후에도 판단을 확인한다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9728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366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08-12 수락 이후 같은 변경을 세 번 평가했고, 결과는 매번 달랐습니다.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0911535" y="644652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B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1335024" y="2240280"/>
            <a:ext cx="0" cy="3145536"/>
          </a:xfrm>
          <a:prstGeom prst="line">
            <a:avLst/>
          </a:prstGeom>
          <a:noFill/>
          <a:ln w="19050">
            <a:solidFill>
              <a:srgbClr val="B8D3C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2057400"/>
            <a:ext cx="603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5366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08-12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243584" y="2148840"/>
            <a:ext cx="182880" cy="182880"/>
          </a:xfrm>
          <a:prstGeom prst="ellipse">
            <a:avLst/>
          </a:prstGeom>
          <a:solidFill>
            <a:srgbClr val="53666B"/>
          </a:solidFill>
          <a:ln w="19050">
            <a:solidFill>
              <a:srgbClr val="EDF1E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600200" y="2011680"/>
            <a:ext cx="5074920" cy="658368"/>
          </a:xfrm>
          <a:prstGeom prst="roundRect">
            <a:avLst>
              <a:gd name="adj" fmla="val 8333"/>
            </a:avLst>
          </a:prstGeom>
          <a:solidFill>
            <a:srgbClr val="E9EEEC"/>
          </a:solidFill>
          <a:ln w="12700">
            <a:solidFill>
              <a:srgbClr val="E9EEE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783080" y="2084832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72A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효과성 평가 · 데이터 부족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1783080" y="2368296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366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후속 LOT 0 / 10 → 종결할 수 없음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2843784"/>
            <a:ext cx="603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5366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08-23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1243584" y="2935224"/>
            <a:ext cx="182880" cy="182880"/>
          </a:xfrm>
          <a:prstGeom prst="ellipse">
            <a:avLst/>
          </a:prstGeom>
          <a:solidFill>
            <a:srgbClr val="17756D"/>
          </a:solidFill>
          <a:ln w="19050">
            <a:solidFill>
              <a:srgbClr val="EDF1E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00200" y="2798064"/>
            <a:ext cx="5074920" cy="658368"/>
          </a:xfrm>
          <a:prstGeom prst="roundRect">
            <a:avLst>
              <a:gd name="adj" fmla="val 8333"/>
            </a:avLst>
          </a:prstGeom>
          <a:solidFill>
            <a:srgbClr val="E3F5EB"/>
          </a:solidFill>
          <a:ln w="12700">
            <a:solidFill>
              <a:srgbClr val="E3F5E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783080" y="2871216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775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효과성 평가 · 합격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1783080" y="3154680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366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후속 LOT 11 / 10 · 10일 · AOI 불량 2 / 1,100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3630168"/>
            <a:ext cx="603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5366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08-23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1243584" y="3721608"/>
            <a:ext cx="182880" cy="182880"/>
          </a:xfrm>
          <a:prstGeom prst="ellipse">
            <a:avLst/>
          </a:prstGeom>
          <a:solidFill>
            <a:srgbClr val="17756D"/>
          </a:solidFill>
          <a:ln w="19050">
            <a:solidFill>
              <a:srgbClr val="EDF1E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600200" y="3584448"/>
            <a:ext cx="5074920" cy="658368"/>
          </a:xfrm>
          <a:prstGeom prst="roundRect">
            <a:avLst>
              <a:gd name="adj" fmla="val 8333"/>
            </a:avLst>
          </a:prstGeom>
          <a:solidFill>
            <a:srgbClr val="E3F5EB"/>
          </a:solidFill>
          <a:ln w="12700">
            <a:solidFill>
              <a:srgbClr val="E3F5E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783080" y="3657600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775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모니터링 종결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1783080" y="3941064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366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승인자가 종결 · 평가자와 다른 사람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4416552"/>
            <a:ext cx="603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5366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09-10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1243584" y="4507992"/>
            <a:ext cx="182880" cy="182880"/>
          </a:xfrm>
          <a:prstGeom prst="ellipse">
            <a:avLst/>
          </a:prstGeom>
          <a:solidFill>
            <a:srgbClr val="D46F38"/>
          </a:solidFill>
          <a:ln w="19050">
            <a:solidFill>
              <a:srgbClr val="EDF1E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600200" y="4370832"/>
            <a:ext cx="5074920" cy="658368"/>
          </a:xfrm>
          <a:prstGeom prst="roundRect">
            <a:avLst>
              <a:gd name="adj" fmla="val 8333"/>
            </a:avLst>
          </a:prstGeom>
          <a:solidFill>
            <a:srgbClr val="FFF6EE"/>
          </a:solidFill>
          <a:ln w="12700">
            <a:solidFill>
              <a:srgbClr val="FFF6EE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783080" y="4443984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D46F3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효과성 평가 · 재개 필요</a:t>
            </a:r>
            <a:endParaRPr lang="en-US" sz="1350" dirty="0"/>
          </a:p>
        </p:txBody>
      </p:sp>
      <p:sp>
        <p:nvSpPr>
          <p:cNvPr id="25" name="Text 23"/>
          <p:cNvSpPr txBox="1"/>
          <p:nvPr/>
        </p:nvSpPr>
        <p:spPr>
          <a:xfrm>
            <a:off x="1783080" y="4727448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366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후속 LOT 28건 · 관련 설비 경보 미해결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548640" y="5202936"/>
            <a:ext cx="603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5366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09-10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1243584" y="5294376"/>
            <a:ext cx="182880" cy="182880"/>
          </a:xfrm>
          <a:prstGeom prst="ellipse">
            <a:avLst/>
          </a:prstGeom>
          <a:solidFill>
            <a:srgbClr val="172A32"/>
          </a:solidFill>
          <a:ln w="19050">
            <a:solidFill>
              <a:srgbClr val="EDF1E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600200" y="5157216"/>
            <a:ext cx="5074920" cy="658368"/>
          </a:xfrm>
          <a:prstGeom prst="roundRect">
            <a:avLst>
              <a:gd name="adj" fmla="val 8333"/>
            </a:avLst>
          </a:prstGeom>
          <a:solidFill>
            <a:srgbClr val="E9EEEC"/>
          </a:solidFill>
          <a:ln w="12700">
            <a:solidFill>
              <a:srgbClr val="E9EEEC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1783080" y="5230368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72A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재개 · 확인 회차 1 → 2</a:t>
            </a:r>
            <a:endParaRPr lang="en-US" sz="1350" dirty="0"/>
          </a:p>
        </p:txBody>
      </p:sp>
      <p:sp>
        <p:nvSpPr>
          <p:cNvPr id="30" name="Text 28"/>
          <p:cNvSpPr txBox="1"/>
          <p:nvPr/>
        </p:nvSpPr>
        <p:spPr>
          <a:xfrm>
            <a:off x="1783080" y="5513832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366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품질 엔지니어 · 이전 수락과 종결은 이력에 남음</a:t>
            </a:r>
            <a:endParaRPr lang="en-US" sz="1150" dirty="0"/>
          </a:p>
        </p:txBody>
      </p:sp>
      <p:sp>
        <p:nvSpPr>
          <p:cNvPr id="31" name="Text 29"/>
          <p:cNvSpPr txBox="1"/>
          <p:nvPr/>
        </p:nvSpPr>
        <p:spPr>
          <a:xfrm>
            <a:off x="1600200" y="596188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A9B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평가 시각은 모두 UTC · 2026년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7086600" y="2011680"/>
            <a:ext cx="4556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5366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재개 결정 기록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7050024" y="2322576"/>
            <a:ext cx="4629607" cy="1875332"/>
          </a:xfrm>
          <a:prstGeom prst="rect">
            <a:avLst/>
          </a:prstGeom>
          <a:solidFill>
            <a:srgbClr val="FFFFFF"/>
          </a:solidFill>
          <a:ln w="9525">
            <a:solidFill>
              <a:srgbClr val="D9E2DE"/>
            </a:solidFill>
            <a:prstDash val="solid"/>
          </a:ln>
          <a:effectLst>
            <a:outerShdw sx="100000" sy="100000" kx="0" ky="0" algn="bl" rotWithShape="0" blurRad="76200" dist="25400" dir="5400000">
              <a:srgbClr val="193A32">
                <a:alpha val="12000"/>
              </a:srgbClr>
            </a:outerShdw>
          </a:effectLst>
        </p:spPr>
      </p:sp>
      <p:pic>
        <p:nvPicPr>
          <p:cNvPr id="34" name="Image 0" descr="효과성 재개 결정 기록: 이전 종결 보존, 확인 회차 1에서 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0" y="2359152"/>
            <a:ext cx="4556455" cy="1802180"/>
          </a:xfrm>
          <a:prstGeom prst="rect">
            <a:avLst/>
          </a:prstGeom>
        </p:spPr>
      </p:pic>
      <p:sp>
        <p:nvSpPr>
          <p:cNvPr id="35" name="Shape 32"/>
          <p:cNvSpPr/>
          <p:nvPr/>
        </p:nvSpPr>
        <p:spPr>
          <a:xfrm>
            <a:off x="7086600" y="4480560"/>
            <a:ext cx="4556455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D9E2DE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315200" y="4617720"/>
            <a:ext cx="40992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2A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데이터가 부족하면 합격이 아니다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7315200" y="4983480"/>
            <a:ext cx="4099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366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가장 최근 평가가 합격이어야 종결할 수 있고,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366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재개해도 이전 합격·종결 기록은 그대로 남습니다.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DF1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2A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어디까지 확인했나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9728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366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앞에서 본 동작은 자동 테스트와 실제 앱 실행으로 확인했습니다.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0911535" y="644652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B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08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48640" y="2103120"/>
            <a:ext cx="2615184" cy="251460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 w="9525">
            <a:solidFill>
              <a:srgbClr val="D9E2D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04672" y="2377440"/>
            <a:ext cx="21579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775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291/291</a:t>
            </a:r>
            <a:endParaRPr lang="en-US" sz="3600" dirty="0"/>
          </a:p>
        </p:txBody>
      </p:sp>
      <p:sp>
        <p:nvSpPr>
          <p:cNvPr id="7" name="Text 5"/>
          <p:cNvSpPr txBox="1"/>
          <p:nvPr/>
        </p:nvSpPr>
        <p:spPr>
          <a:xfrm>
            <a:off x="804672" y="3246120"/>
            <a:ext cx="21579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2A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 테스트 통과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04672" y="3639312"/>
            <a:ext cx="22037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366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Node.js v24.19.0 · Windows x64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366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실패 0 · 건너뜀 0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374136" y="2103120"/>
            <a:ext cx="2615184" cy="251460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 w="9525">
            <a:solidFill>
              <a:srgbClr val="D9E2D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630168" y="2377440"/>
            <a:ext cx="21579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72A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5/5</a:t>
            </a:r>
            <a:endParaRPr lang="en-US" sz="3600" dirty="0"/>
          </a:p>
        </p:txBody>
      </p:sp>
      <p:sp>
        <p:nvSpPr>
          <p:cNvPr id="11" name="Text 9"/>
          <p:cNvSpPr txBox="1"/>
          <p:nvPr/>
        </p:nvSpPr>
        <p:spPr>
          <a:xfrm>
            <a:off x="3630168" y="3246120"/>
            <a:ext cx="21579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2A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오프라인 번들 검증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3630168" y="3639312"/>
            <a:ext cx="22037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366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번들 무결성 · 고정 런타임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366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 연결 거부 · 루프백 자산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366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샘플 승인 흐름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199632" y="2103120"/>
            <a:ext cx="2615184" cy="251460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 w="9525">
            <a:solidFill>
              <a:srgbClr val="D9E2D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55664" y="2377440"/>
            <a:ext cx="21579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72A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+ 1</a:t>
            </a:r>
            <a:endParaRPr lang="en-US" sz="3600" dirty="0"/>
          </a:p>
        </p:txBody>
      </p:sp>
      <p:sp>
        <p:nvSpPr>
          <p:cNvPr id="15" name="Text 13"/>
          <p:cNvSpPr txBox="1"/>
          <p:nvPr/>
        </p:nvSpPr>
        <p:spPr>
          <a:xfrm>
            <a:off x="6455664" y="3246120"/>
            <a:ext cx="21579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2A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끝까지 진행한 시나리오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455664" y="3639312"/>
            <a:ext cx="22037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366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 2건 · 사건 1건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366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앱 화면에서 역할을 바꿔 진행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9025128" y="2103120"/>
            <a:ext cx="2615184" cy="251460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 w="9525">
            <a:solidFill>
              <a:srgbClr val="D9E2DE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281160" y="2377440"/>
            <a:ext cx="21579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72A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 · 0</a:t>
            </a:r>
            <a:endParaRPr lang="en-US" sz="3600" dirty="0"/>
          </a:p>
        </p:txBody>
      </p:sp>
      <p:sp>
        <p:nvSpPr>
          <p:cNvPr id="19" name="Text 17"/>
          <p:cNvSpPr txBox="1"/>
          <p:nvPr/>
        </p:nvSpPr>
        <p:spPr>
          <a:xfrm>
            <a:off x="9281160" y="3246120"/>
            <a:ext cx="21579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2A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콘솔 오류 · 외부 요청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9281160" y="3639312"/>
            <a:ext cx="22037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366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Chromium(Playwright)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366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 화면 순회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366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표시 문구 영어 문장·UUID 0건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48640" y="4937760"/>
            <a:ext cx="11094415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9525">
            <a:solidFill>
              <a:srgbClr val="D9E2DE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22960" y="4937760"/>
            <a:ext cx="182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6F3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증명하지 않는 것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2651760" y="4937760"/>
            <a:ext cx="871697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72A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합성 정렬·AOI 공정 데이터로 검증했습니다. 실제 MES·설비 연동, 사용자 인증·전자서명, 실제 공정 기준값의 타당성은 이 범위 밖입니다.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228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판단을 현장에 옮기려면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9728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B6D2D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지금은 합성 데이터에서 동작합니다. 다음은 실제 MES·설비 데이터와 연결하는 일입니다.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0911535" y="644652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F8B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09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48640" y="2057400"/>
            <a:ext cx="3515258" cy="2331720"/>
          </a:xfrm>
          <a:prstGeom prst="roundRect">
            <a:avLst>
              <a:gd name="adj" fmla="val 3137"/>
            </a:avLst>
          </a:prstGeom>
          <a:solidFill>
            <a:srgbClr val="203944"/>
          </a:solidFill>
          <a:ln w="9525">
            <a:solidFill>
              <a:srgbClr val="5B4A3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2286000"/>
            <a:ext cx="29666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D46F3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제가 정의한 것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788920"/>
            <a:ext cx="305805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제조 문제와 판단 기준</a:t>
            </a:r>
            <a:endParaRPr lang="en-US" sz="13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위험 분류와 검증 구조</a:t>
            </a:r>
            <a:endParaRPr lang="en-US" sz="13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역할 분리와 근거 요건</a:t>
            </a:r>
            <a:endParaRPr lang="en-US" sz="13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수락 조건과 효과성 확인</a:t>
            </a:r>
            <a:endParaRPr lang="en-US" sz="13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 기준과 MES·설비 확장 방향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338218" y="2057400"/>
            <a:ext cx="3515258" cy="2331720"/>
          </a:xfrm>
          <a:prstGeom prst="roundRect">
            <a:avLst>
              <a:gd name="adj" fmla="val 3137"/>
            </a:avLst>
          </a:prstGeom>
          <a:solidFill>
            <a:srgbClr val="203944"/>
          </a:solidFill>
          <a:ln w="9525">
            <a:solidFill>
              <a:srgbClr val="2F4C5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612538" y="2286000"/>
            <a:ext cx="29666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B6D2D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AI를 쓴 곳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4612538" y="2788920"/>
            <a:ext cx="305805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DCE8E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기준을 코드로 옮기는 구현</a:t>
            </a:r>
            <a:endParaRPr lang="en-US" sz="13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DCE8E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테스트 작성과 코드 검토</a:t>
            </a:r>
            <a:endParaRPr lang="en-US" sz="13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DCE8E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반영 여부는 테스트와 실행으로 결정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8127797" y="2057400"/>
            <a:ext cx="3515258" cy="2331720"/>
          </a:xfrm>
          <a:prstGeom prst="roundRect">
            <a:avLst>
              <a:gd name="adj" fmla="val 3137"/>
            </a:avLst>
          </a:prstGeom>
          <a:solidFill>
            <a:srgbClr val="203944"/>
          </a:solidFill>
          <a:ln w="9525">
            <a:solidFill>
              <a:srgbClr val="2F4C5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402117" y="2286000"/>
            <a:ext cx="29666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B6D2D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단계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8402117" y="2788920"/>
            <a:ext cx="305805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DCE8E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MES·설비·SPC 실데이터 연동</a:t>
            </a:r>
            <a:endParaRPr lang="en-US" sz="13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DCE8E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 인증과 전자서명</a:t>
            </a:r>
            <a:endParaRPr lang="en-US" sz="13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DCE8E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공정 규칙과 기준값 적용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475488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무엇을 만들지, 어떤 조건에서 통과시킬지는 제가 정했습니다.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5239512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B6D2D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변경이 끝났다고 말하지 않고, 그 판단이 이후 생산에서도 유지됐는지 기록합니다.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DF1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2A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· 아키텍처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9728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366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PC에서 실행하는 로컬 웹 앱입니다. 규칙 검사는 모두 서버에서 합니다.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0911535" y="644652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B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A1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5669280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9525">
            <a:solidFill>
              <a:srgbClr val="D9E2D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205740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2A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브라우저 UI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37744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366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표시와 입력 · 한국어 표시 이름과 감사 묶음은 화면에서만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3200400" y="2734056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AABA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↓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2990088"/>
            <a:ext cx="5669280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9525">
            <a:solidFill>
              <a:srgbClr val="D9E2D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3081528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2A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로컬 서버 · 127.0.0.1:4310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3401568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366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루프백 요청만 허용 · 번들된 자산만 제공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3200400" y="375818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AABA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↓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48640" y="4014216"/>
            <a:ext cx="5669280" cy="786384"/>
          </a:xfrm>
          <a:prstGeom prst="roundRect">
            <a:avLst>
              <a:gd name="adj" fmla="val 9302"/>
            </a:avLst>
          </a:prstGeom>
          <a:solidFill>
            <a:srgbClr val="203944"/>
          </a:solidFill>
          <a:ln w="9525">
            <a:solidFill>
              <a:srgbClr val="20394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2960" y="4105656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도메인 규칙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4425696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B6D2D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 전이 · 역할 분리 · 근거 적합성 · 효과성 판정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3200400" y="4782312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AABA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↓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48640" y="5038344"/>
            <a:ext cx="5669280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9525">
            <a:solidFill>
              <a:srgbClr val="D9E2DE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22960" y="5129784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2A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SQLite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822960" y="5449824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366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결정·개정·감사 기록 보존 · 순차 마이그레이션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675120" y="1965960"/>
            <a:ext cx="4967935" cy="3877056"/>
          </a:xfrm>
          <a:prstGeom prst="roundRect">
            <a:avLst>
              <a:gd name="adj" fmla="val 1887"/>
            </a:avLst>
          </a:prstGeom>
          <a:solidFill>
            <a:srgbClr val="FFFFFF"/>
          </a:solidFill>
          <a:ln w="9525">
            <a:solidFill>
              <a:srgbClr val="D9E2DE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949440" y="2148840"/>
            <a:ext cx="4419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2A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서버가 다시 검사하는 것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6949440" y="2651760"/>
            <a:ext cx="4419295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72A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 전이 순서와 개정 번호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72A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역할과 독립성 (요청·근거·검토·승인)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72A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 적합성 (원천·시각·LOT·모듈)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72A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수락 유형과 조건부 수락 만료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72A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효과성 판정 · 종결 · 재개 조건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72A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감사 기록 해시 체인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6949440" y="5257800"/>
            <a:ext cx="4419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775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 API · CDN · 원격 DB · 텔레메트리 없음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DF1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2A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· 상태 전이와 역할 분리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9728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366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각 단계의 저장 상태와 기록할 수 있는 역할, 기록할 수 없는 사람입니다.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0911535" y="644652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B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A2</a:t>
            </a:r>
            <a:endParaRPr lang="en-US" sz="10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74520"/>
          <a:ext cx="11094415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4480560"/>
                <a:gridCol w="3108960"/>
                <a:gridCol w="2590495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5366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단계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5366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 상태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5366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기록하는 역할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5366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기록할 수 없는 사람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5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72A3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변경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72A3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초안 → 제출됨 → 위험 분류됨 → 계획 승인됨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72A3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요청자 · 품질 엔지니어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72A3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L3 계획 승인: 요청자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72A3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검증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72A3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검증 진행 중 (불합격 시 재작업 필요 → 새 개정)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72A3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검증 엔지니어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72A3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—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72A3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근거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72A3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근거 확정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72A3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검증 엔지니어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72A3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—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72A3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검토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72A3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독립 검토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72A3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독립 검토자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72A3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요청자 · 근거 기록자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72A3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수락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72A3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수락됨 (일반 / 조건부 + 만료 시각)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72A3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승인자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72A3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요청자 · 근거 기록자 · 검토자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72A3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효과성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72A3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효과성 확인 중 → 종결 / 재개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72A3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평가: 품질·검증 엔지니어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72A3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종결: 품질 엔지니어·승인자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72A3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재개: 품질 엔지니어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72A3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종결: 요청자 · 평가자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72A3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72A3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발생 → 봉쇄됨 → 추적 제안됨 → 범위 검토됨 → CAPA 진행 중 → 효과성 확인 → 종결 / 재개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72A3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생산 관리자 · 품질·제조·설비 엔지니어 · 독립 검토자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72A3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범위 검토: 추적 요청자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DF1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2A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· 개발 방법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9728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366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구현 전에 판단 기준·역할 분리·근거 요건을 계약으로 정했고, 코드는 모두 같은 순서로 확인했습니다.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0911535" y="644652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B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48640" y="2057400"/>
            <a:ext cx="2560320" cy="1737360"/>
          </a:xfrm>
          <a:prstGeom prst="roundRect">
            <a:avLst>
              <a:gd name="adj" fmla="val 4211"/>
            </a:avLst>
          </a:prstGeom>
          <a:solidFill>
            <a:srgbClr val="203944"/>
          </a:solidFill>
          <a:ln w="9525">
            <a:solidFill>
              <a:srgbClr val="20394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04672" y="224028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 계약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04672" y="274320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B6D2D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판단 기준 · 역할 분리 ·</a:t>
            </a: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B6D2D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 요건을 먼저 정의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3108960" y="2057400"/>
            <a:ext cx="28346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AABA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392424" y="2057400"/>
            <a:ext cx="256032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9525">
            <a:solidFill>
              <a:srgbClr val="D9E2D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648456" y="224028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72A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 구현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3648456" y="274320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5366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계약에 있는 동작만 구현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5952744" y="2057400"/>
            <a:ext cx="28346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AABA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236208" y="2057400"/>
            <a:ext cx="256032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9525">
            <a:solidFill>
              <a:srgbClr val="D9E2D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92240" y="224028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72A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 자동 테스트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6492240" y="274320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5366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계약을 테스트로 옮기고</a:t>
            </a: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5366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실패하면 구현을 수정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8796528" y="2057400"/>
            <a:ext cx="28346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AABA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9079992" y="2057400"/>
            <a:ext cx="256032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9525">
            <a:solidFill>
              <a:srgbClr val="D9E2DE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336024" y="224028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72A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 실제 브라우저 확인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9336024" y="274320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5366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시나리오를 끝까지 진행</a:t>
            </a: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5366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콘솔 오류·외부 요청 확인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48640" y="4160520"/>
            <a:ext cx="11094415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D9E2DE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22960" y="4315968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2A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도구의 자리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822960" y="4709160"/>
            <a:ext cx="1054577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72A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구현과 코드 검토에 AI 코딩 도구(Codex, Claude)를 사용했습니다.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72A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도구가 만든 코드도 같은 자동 테스트, 오프라인 번들 검증, 브라우저 확인을 통과해야 반영했습니다.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72A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 실행 경로에는 외부 AI 호출이 없습니다.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FabAssure — 제조 변경 품질 관리</dc:title>
  <dc:subject>PptxGenJS Presentation</dc:subject>
  <dc:creator>FabAssure</dc:creator>
  <cp:lastModifiedBy>FabAssure</cp:lastModifiedBy>
  <cp:revision>1</cp:revision>
  <dcterms:created xsi:type="dcterms:W3CDTF">2026-09-26T04:09:18Z</dcterms:created>
  <dcterms:modified xsi:type="dcterms:W3CDTF">2026-09-26T04:09:18Z</dcterms:modified>
</cp:coreProperties>
</file>